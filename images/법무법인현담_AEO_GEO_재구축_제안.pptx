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A6BC4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417320"/>
            <a:ext cx="640080" cy="54864"/>
          </a:xfrm>
          <a:prstGeom prst="rect">
            <a:avLst/>
          </a:prstGeom>
          <a:solidFill>
            <a:srgbClr val="1A6BC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HYUNDAM LAW FIRM · AEO / GEO DIAGNOSIS &amp; REBUILD PROPOSAL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법무법인 현담 홈페이지 진단 및
</a:t>
            </a:r>
            <a:endParaRPr lang="en-US" sz="3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검색(AEO·GEO) 대응 재구축 제안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41248" y="3794760"/>
            <a:ext cx="4754880" cy="0"/>
          </a:xfrm>
          <a:prstGeom prst="line">
            <a:avLst/>
          </a:prstGeom>
          <a:noFill/>
          <a:ln w="19050">
            <a:solidFill>
              <a:srgbClr val="E9EC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977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법무법인 현담 귀중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ABEL Consulting   |   2026. 09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 사이트 기술 진단 · 검색/AI 노출 실패 원인 규명 · 민사·행정 승소 자산의 AEO 설계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ABEL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8700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"/>
          </a:xfrm>
          <a:prstGeom prst="rect">
            <a:avLst/>
          </a:prstGeom>
          <a:solidFill>
            <a:srgbClr val="1A6B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장 요약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11155680" cy="868680"/>
          </a:xfrm>
          <a:prstGeom prst="roundRect">
            <a:avLst>
              <a:gd name="adj" fmla="val 6316"/>
            </a:avLst>
          </a:prstGeom>
          <a:solidFill>
            <a:srgbClr val="EFF5FC"/>
          </a:solidFill>
          <a:ln/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CURRENT STATUS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99339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"25건 넘는 승소 자산을 쌓아두고도, 검색엔진과 AI가 읽을 수 없는 구조에 갇혀 있습니다."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3566160" cy="2926080"/>
          </a:xfrm>
          <a:prstGeom prst="roundRect">
            <a:avLst>
              <a:gd name="adj" fmla="val 1875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8952" y="2880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진단 01. 구형 기술 구조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8952" y="3273552"/>
            <a:ext cx="3054096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3364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그누보드 파라미터 URL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58952" y="3657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board.php?wr_id=20 방식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58952" y="4023360"/>
            <a:ext cx="3090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주소에 사건 키워드가 없어 검색엔진이 문서 성격을 인식하지 못합니다. HTTP(비암호화)·스키마 부재까지 겹쳐 기계 가독성이 원천적으로 낮습니다.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0" y="2697480"/>
            <a:ext cx="3566160" cy="2926080"/>
          </a:xfrm>
          <a:prstGeom prst="roundRect">
            <a:avLst>
              <a:gd name="adj" fmla="val 187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45152" y="2880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진단 02. AI 노출 공백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45152" y="3273552"/>
            <a:ext cx="3054096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3364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메타데이터 빈약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45152" y="3657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description이 '법무법인 현담' 한 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5152" y="4023360"/>
            <a:ext cx="3090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엔진이 인용할 구조화 데이터가 없습니다. 같은 건물의 대륜·법승은 콘텐츠로 존재감을 키우는데, 현담은 자기 홈페이지 링크만 노출됩니다.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75320" y="2697480"/>
            <a:ext cx="3566160" cy="2926080"/>
          </a:xfrm>
          <a:prstGeom prst="roundRect">
            <a:avLst>
              <a:gd name="adj" fmla="val 1875"/>
            </a:avLst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31352" y="2880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강점. 승소 콘텐츠 실체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31352" y="3273552"/>
            <a:ext cx="3054096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31352" y="3364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민사·행정 승소 다수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31352" y="3657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1·2·3심 승소, 무죄, 인용 실적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31352" y="4023360"/>
            <a:ext cx="3090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대여금·손해배상·행정심판 등 구체적 승소 기록이 이미 축적돼 있습니다. 이 실증 자산은 AI가 가장 인용하고 싶어 하는 자원입니다.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5806440"/>
            <a:ext cx="11155680" cy="45720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/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" y="587044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제안: </a:t>
            </a:r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기계 가독형 전면 재구축 · 승소사례 구조화(스키마) · AI 검색 봇 개방 · 지역·분야 롱테일 콘텐츠 축적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ABEL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8700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"/>
          </a:xfrm>
          <a:prstGeom prst="rect">
            <a:avLst/>
          </a:prstGeom>
          <a:solidFill>
            <a:srgbClr val="1A6B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WHY AEO / GEO NOW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지금 AEO·GEO인가 : 의뢰인의 검색이 바뀌었습니다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과거 : 검색엔진 순위 경쟁 (SEO)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5029200" cy="0"/>
          </a:xfrm>
          <a:prstGeom prst="line">
            <a:avLst/>
          </a:prstGeom>
          <a:noFill/>
          <a:ln w="12700">
            <a:solidFill>
              <a:srgbClr val="E9EC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87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포털에 '남양주 변호사' 단일 키워드 검색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32186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상단 유료 광고·블로그 목록을 훑고 비교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9502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여러 사이트를 직접 열어보며 판단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78308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EFF5FC"/>
          </a:solidFill>
          <a:ln w="12700">
            <a:solidFill>
              <a:srgbClr val="1A6BC4"/>
            </a:solidFill>
            <a:prstDash val="solid"/>
          </a:ln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: AI 답변 인용 경쟁 (AEO·GEO)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2331720"/>
            <a:ext cx="5029200" cy="0"/>
          </a:xfrm>
          <a:prstGeom prst="line">
            <a:avLst/>
          </a:prstGeom>
          <a:noFill/>
          <a:ln w="12700">
            <a:solidFill>
              <a:srgbClr val="1A6B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2487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AI에게 내 상황을 문장으로 직접 질문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03720" y="32186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인용·추천한 극소수 전문가만 후보로 압축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3931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39502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제시한 출처 링크를 타고 들어가 검증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983480"/>
            <a:ext cx="11155680" cy="1280160"/>
          </a:xfrm>
          <a:prstGeom prst="roundRect">
            <a:avLst>
              <a:gd name="adj" fmla="val 4286"/>
            </a:avLst>
          </a:prstGeom>
          <a:solidFill>
            <a:srgbClr val="111111"/>
          </a:solidFill>
          <a:ln/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5120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FB3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/ GEO 란?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7240" y="53949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AEO(답변엔진 최적화)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5E5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는 AI가 참고할 출처로 우리 사이트를 지정하게 만드는 것,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GEO(생성형엔진 최적화)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5E5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는 ChatGPT·Perplexity 답변 안에 '법무법인 현담'이 인용·추천되도록 만드는 것입니다. 순위 경쟁이 아니라 '인용 경쟁'입니다.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ABEL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8700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"/>
          </a:xfrm>
          <a:prstGeom prst="rect">
            <a:avLst/>
          </a:prstGeom>
          <a:solidFill>
            <a:srgbClr val="1A6B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DIAGNOSIS 01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진단 ① : 현 홈페이지의 기술 구조 실측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hyundamlaw.com을 직접 진단한 결과, 검색·AI 가독성을 막는 구조적 결함이 확인됩니다.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2468880" cy="457200"/>
          </a:xfrm>
          <a:prstGeom prst="rect">
            <a:avLst/>
          </a:prstGeom>
          <a:solidFill>
            <a:srgbClr val="0F4C8C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 항목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71800" y="2194560"/>
            <a:ext cx="3931920" cy="457200"/>
          </a:xfrm>
          <a:prstGeom prst="rect">
            <a:avLst/>
          </a:prstGeom>
          <a:solidFill>
            <a:srgbClr val="0F4C8C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상태 (AS-IS)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03720" y="2194560"/>
            <a:ext cx="4754880" cy="457200"/>
          </a:xfrm>
          <a:prstGeom prst="rect">
            <a:avLst/>
          </a:prstGeom>
          <a:solidFill>
            <a:srgbClr val="0F4C8C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2194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기술적 문제점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2468880" cy="548640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51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보안 프로토콜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71800" y="2651760"/>
            <a:ext cx="3931920" cy="548640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2651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HTTP (비암호화)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2651760"/>
            <a:ext cx="4754880" cy="548640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26517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91C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구글이 신뢰도 감점 요소로 평가, 브라우저 '주의 요함' 경고 노출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200400"/>
            <a:ext cx="24688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페이지 주소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71800" y="3200400"/>
            <a:ext cx="39319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3200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board.php?wr_id=20 파라미터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03720" y="3200400"/>
            <a:ext cx="47548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32004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91C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주소에 사건·키워드 없음 → 검색엔진이 문서 성격 인식 불가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749040"/>
            <a:ext cx="2468880" cy="548640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메타데이터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971800" y="3749040"/>
            <a:ext cx="3931920" cy="548640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0" y="3749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description '법무법인 현담' 한 줄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03720" y="3749040"/>
            <a:ext cx="4754880" cy="548640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91C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검색결과·AI 요약에 쓸 설명이 없어 클릭·인용 유인 부재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4297680"/>
            <a:ext cx="24688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297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구조화 스키마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971800" y="4297680"/>
            <a:ext cx="39319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0" y="4297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JSON-LD 미적용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03720" y="4297680"/>
            <a:ext cx="47548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4297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91C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AI·크롤러가 '법무법인'임을 구조적으로 인지 불가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4846320"/>
            <a:ext cx="2468880" cy="548640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846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성공사례 구조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971800" y="4846320"/>
            <a:ext cx="3931920" cy="548640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0" y="4846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게시판 목록 나열형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903720" y="4846320"/>
            <a:ext cx="4754880" cy="548640"/>
          </a:xfrm>
          <a:prstGeom prst="rect">
            <a:avLst/>
          </a:prstGeom>
          <a:solidFill>
            <a:srgbClr val="F8F9FA"/>
          </a:solidFill>
          <a:ln w="9525">
            <a:solidFill>
              <a:srgbClr val="E9EC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40880" y="48463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91C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승소 결과가 데이터화되지 않아 인용 근거로 활용 불가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" y="5532120"/>
            <a:ext cx="11155680" cy="749808"/>
          </a:xfrm>
          <a:prstGeom prst="roundRect">
            <a:avLst>
              <a:gd name="adj" fmla="val 7317"/>
            </a:avLst>
          </a:prstGeom>
          <a:solidFill>
            <a:srgbClr val="FEE2E2"/>
          </a:solidFill>
          <a:ln/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77240" y="563270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B91C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진단 요약: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 사이트는 '기계(AI)가 읽을 수 없는 언어와 구조'로 지어졌습니다. 아무리 좋은 승소사례를 올려도 검색·AI에 걸리지 않습니다. 부분 수정으로는 해결되지 않아 전면 재구축을 제안합니다.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0292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ABEL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28700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"/>
          </a:xfrm>
          <a:prstGeom prst="rect">
            <a:avLst/>
          </a:prstGeom>
          <a:solidFill>
            <a:srgbClr val="1A6B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DIAGNOSIS 02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진단 ② : 검색·AI 노출에서의 실제 위치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'남양주 다산 변호사'를 직접 검색해 현담이 어디에 서 있는지 실측했습니다.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5486400" cy="2788920"/>
          </a:xfrm>
          <a:prstGeom prst="roundRect">
            <a:avLst>
              <a:gd name="adj" fmla="val 1967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결과에서 일어나는 일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2816352"/>
            <a:ext cx="109728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743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건물·인접 건물에 대륜·법승 등 경쟁 로펌 밀집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777240" y="3364992"/>
            <a:ext cx="109728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291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경쟁사는 방송출연·전문 칼럼으로 검색 상단 점유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77240" y="3913632"/>
            <a:ext cx="109728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현담은 자기 홈페이지 링크·주소 정보만 노출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77240" y="4462272"/>
            <a:ext cx="109728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389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AI에게 물으면 인용 근거가 없어 후보에서 누락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172200" y="2148840"/>
            <a:ext cx="5486400" cy="2788920"/>
          </a:xfrm>
          <a:prstGeom prst="roundRect">
            <a:avLst>
              <a:gd name="adj" fmla="val 1967"/>
            </a:avLst>
          </a:prstGeom>
          <a:solidFill>
            <a:srgbClr val="EFF5FC"/>
          </a:solidFill>
          <a:ln w="12700">
            <a:solidFill>
              <a:srgbClr val="1A6BC4"/>
            </a:solidFill>
            <a:prstDash val="solid"/>
          </a:ln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2331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REAL SEARCH QUERY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0" y="26517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"남양주 다산에서 대여금 소송을 준비 중인데, 연대보증 관련 승소 경험이 많은 변호사를 추천해줘."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0" y="3703320"/>
            <a:ext cx="5029200" cy="0"/>
          </a:xfrm>
          <a:prstGeom prst="line">
            <a:avLst/>
          </a:prstGeom>
          <a:noFill/>
          <a:ln w="12700">
            <a:solidFill>
              <a:srgbClr val="1A6B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84048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현담은 이런 사건의 승소 실적을 실제로 보유하고 있습니다. 그러나 그 데이터가 AI가 읽을 수 있는 구조가 아니어서, 추천 답변에 등장하지 못합니다. 자산은 있는데 노출이 안 되는 상태입니다.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02920" y="5120640"/>
            <a:ext cx="11155680" cy="1143000"/>
          </a:xfrm>
          <a:prstGeom prst="roundRect">
            <a:avLst>
              <a:gd name="adj" fmla="val 4800"/>
            </a:avLst>
          </a:prstGeom>
          <a:solidFill>
            <a:srgbClr val="111111"/>
          </a:solidFill>
          <a:ln/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5257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FB3E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문제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현담의 약점은 '실력'이나 '실적'이 아니라 오직 '노출 구조'입니다. 보유한 승소 자산을 기계가 읽을 수 있게 바꾸기만 해도, 경쟁이 비어 있는 AI 추천 영역을 지역에서 먼저 선점할 수 있습니다.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ABEL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28700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"/>
          </a:xfrm>
          <a:prstGeom prst="rect">
            <a:avLst/>
          </a:prstGeom>
          <a:solidFill>
            <a:srgbClr val="1A6B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COMPETITIVE EDGE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현담의 강점 : 이미 '인용될 자격'을 갖췄습니다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86400" cy="4160520"/>
          </a:xfrm>
          <a:prstGeom prst="roundRect">
            <a:avLst>
              <a:gd name="adj" fmla="val 1319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일반 지역 로펌 사이트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5029200" cy="0"/>
          </a:xfrm>
          <a:prstGeom prst="line">
            <a:avLst/>
          </a:prstGeom>
          <a:noFill/>
          <a:ln w="12700">
            <a:solidFill>
              <a:srgbClr val="E9EC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교과서적 업무 설명 위주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28072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'형사사건이란…' 식 일반론만 나열해 서로 구분되지 않습니다.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5021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결과 없는 성공사례 목록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사건명만 있고 쟁점·처분 결과가 데이터화되지 않았습니다.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4897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지역 키워드 방치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47823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'남양주 대여금 변호사' 같은 구체 검색에 도달하지 못합니다.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5532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B91C1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공통 한계 : 'AI가 인용할 실증 데이터'가 없습니다.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1828800"/>
            <a:ext cx="5486400" cy="4160520"/>
          </a:xfrm>
          <a:prstGeom prst="roundRect">
            <a:avLst>
              <a:gd name="adj" fmla="val 1319"/>
            </a:avLst>
          </a:prstGeom>
          <a:solidFill>
            <a:srgbClr val="EFF5FC"/>
          </a:solidFill>
          <a:ln w="12700">
            <a:solidFill>
              <a:srgbClr val="1A6BC4"/>
            </a:solidFill>
            <a:prstDash val="solid"/>
          </a:ln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법무법인 현담의 실증 자산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2377440"/>
            <a:ext cx="5029200" cy="0"/>
          </a:xfrm>
          <a:prstGeom prst="line">
            <a:avLst/>
          </a:prstGeom>
          <a:noFill/>
          <a:ln w="12700">
            <a:solidFill>
              <a:srgbClr val="1A6B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4C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민사 승소 레코드 다수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0" y="28072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대여금·손해배상·부당이득 등 1·2·3심 승소 확정 사례를 실물로 보유.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35021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4C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행정·형사 승소 확장성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0" y="3794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요양급여 불승인 취소, 면허취소 취소, 무죄 등 분야 폭이 넓습니다.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44897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4C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● 고소인·피고소인 양측 대응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0" y="47823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조사 단계 동행까지 하는 밀착 실무 경험이 콘텐츠 소재가 됩니다.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5532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F4C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"승소 실적이라는 원석은 이미 있습니다. 세공(구조화)만 하면 됩니다."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ABEL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28700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"/>
          </a:xfrm>
          <a:prstGeom prst="rect">
            <a:avLst/>
          </a:prstGeom>
          <a:solidFill>
            <a:srgbClr val="1A6B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STRATEGIC OVERVIEW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종합 전략 개요 : 4개 축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697480" cy="3063240"/>
          </a:xfrm>
          <a:prstGeom prst="roundRect">
            <a:avLst>
              <a:gd name="adj" fmla="val 2034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04088" y="25420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기계 가독형 재구축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" y="29992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 기반 정비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" y="3328416"/>
            <a:ext cx="23134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그누보드 파라미터 구조를 탈피해 HTTPS·의미기반 URL·sitemap·canonical을 갖춘 신규 사이트로 재구축합니다.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704088" y="4572000"/>
            <a:ext cx="2295144" cy="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464515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4C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HTTPS + 영문 URL + 정규화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10712" y="1874520"/>
            <a:ext cx="2697480" cy="3063240"/>
          </a:xfrm>
          <a:prstGeom prst="roundRect">
            <a:avLst>
              <a:gd name="adj" fmla="val 2034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11880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11880" y="25420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봇 개방 + 스키마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11880" y="29992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AEO 기반 확보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11880" y="3328416"/>
            <a:ext cx="23134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robots.txt로 AI 봇을 개방하고, LegalService·Attorney 스키마(JSON-LD)로 법인 정보를 기계에 명사화해 내장합니다.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3611880" y="4572000"/>
            <a:ext cx="2295144" cy="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464515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4C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봇 개방 + JSON-LD 스키마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318504" y="1874520"/>
            <a:ext cx="2697480" cy="3063240"/>
          </a:xfrm>
          <a:prstGeom prst="roundRect">
            <a:avLst>
              <a:gd name="adj" fmla="val 2034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19672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519672" y="25420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승소사례 구조화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19672" y="29992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인용 자원 설계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19672" y="3328416"/>
            <a:ext cx="23134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보유 승소사례를 적용법조·쟁점·처분결과 규격으로 데이터화해, AI가 우선 인용하는 차별적 실증 자원으로 만듭니다.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519672" y="4572000"/>
            <a:ext cx="2295144" cy="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9672" y="464515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4C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7대 규격 + 처분 결과 명시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226296" y="1874520"/>
            <a:ext cx="2697480" cy="3063240"/>
          </a:xfrm>
          <a:prstGeom prst="roundRect">
            <a:avLst>
              <a:gd name="adj" fmla="val 2034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427464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427464" y="25420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지역·분야 롱테일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427464" y="29992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 도달 확대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427464" y="3328416"/>
            <a:ext cx="23134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'남양주 대여금', '행정심판 면허취소' 등 지역·정황 키워드 칼럼을 축적해 구체적 검색과 AI 질의에 도달합니다.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9427464" y="4572000"/>
            <a:ext cx="2295144" cy="0"/>
          </a:xfrm>
          <a:prstGeom prst="line">
            <a:avLst/>
          </a:prstGeom>
          <a:noFill/>
          <a:ln w="9525">
            <a:solidFill>
              <a:srgbClr val="E9EC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27464" y="464515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4C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지역 키워드 + 정황 칼럼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02920" y="5120640"/>
            <a:ext cx="11155680" cy="1143000"/>
          </a:xfrm>
          <a:prstGeom prst="roundRect">
            <a:avLst>
              <a:gd name="adj" fmla="val 4800"/>
            </a:avLst>
          </a:prstGeom>
          <a:solidFill>
            <a:srgbClr val="EFF5FC"/>
          </a:solidFill>
          <a:ln w="12700">
            <a:solidFill>
              <a:srgbClr val="1A6BC4"/>
            </a:solidFill>
            <a:prstDash val="solid"/>
          </a:ln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77240" y="5257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원소스 멀티유즈(OSMU) : 승소 1건이 3개 채널로 순환합니다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560527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[사건 승소] → 승소사례 구조화 등록(스키마) → 지역·쟁점 칼럼 연재 → 구글 검색·AI 추천·상담 유입으로 동시 순환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77240" y="592531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 강도를 높이지 않고, 이미 이긴 사건 하나로 검색·AI·신뢰 검증을 한 번에 정조준합니다.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ABEL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28700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"/>
          </a:xfrm>
          <a:prstGeom prst="rect">
            <a:avLst/>
          </a:prstGeom>
          <a:solidFill>
            <a:srgbClr val="1A6B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CORE STRATEGY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전략 : AI가 현담을 자진 추천하게 만드는 구조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특정 로펌을 지목·추천하려면 다음 3단계 기술 조건이 충족돼야 합니다.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3566160" cy="2788920"/>
          </a:xfrm>
          <a:prstGeom prst="roundRect">
            <a:avLst>
              <a:gd name="adj" fmla="val 1967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" y="23591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58952" y="29260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CRAWLABILITY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58952" y="31638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기계 크롤링 개방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58952" y="3520440"/>
            <a:ext cx="3054096" cy="0"/>
          </a:xfrm>
          <a:prstGeom prst="line">
            <a:avLst/>
          </a:prstGeom>
          <a:noFill/>
          <a:ln w="12700">
            <a:solidFill>
              <a:srgbClr val="E9EC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3621024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재구축과 함께 robots.txt를 AI 봇(GPTBot·ClaudeBot·PerplexityBot·Google-Extended) 허용 상태로 설계해, 승소사례와 실적을 인용해 갈 수 있게 엽니다.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2194560"/>
            <a:ext cx="3566160" cy="2788920"/>
          </a:xfrm>
          <a:prstGeom prst="roundRect">
            <a:avLst>
              <a:gd name="adj" fmla="val 1967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45152" y="23591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45152" y="29260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SCHEMA DATA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45152" y="31638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기계 가독형 구조화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45152" y="3520440"/>
            <a:ext cx="3054096" cy="0"/>
          </a:xfrm>
          <a:prstGeom prst="line">
            <a:avLst/>
          </a:prstGeom>
          <a:noFill/>
          <a:ln w="12700">
            <a:solidFill>
              <a:srgbClr val="E9EC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3621024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법인명·소재지(남양주 다산)·업무분야·변호사 정보·승소 실적을 JSON-LD 스키마로 소스코드에 명사화해, AI가 '남양주 법무법인 현담'을 왜곡 없이 인지하게 합니다.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75320" y="2194560"/>
            <a:ext cx="3566160" cy="2788920"/>
          </a:xfrm>
          <a:prstGeom prst="roundRect">
            <a:avLst>
              <a:gd name="adj" fmla="val 1967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531352" y="23591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531352" y="29260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EXCLUSIVE DATA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31352" y="31638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차별적 인용 자원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531352" y="3520440"/>
            <a:ext cx="3054096" cy="0"/>
          </a:xfrm>
          <a:prstGeom prst="line">
            <a:avLst/>
          </a:prstGeom>
          <a:noFill/>
          <a:ln w="12700">
            <a:solidFill>
              <a:srgbClr val="E9EC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31352" y="3621024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법조문 해설은 누구나 복제 가능해 가치가 낮습니다. 현담의 실제 승소 데이터(적용법조·쟁점·처분결과)를 구조화해, AI가 정황 답변을 생성할 때 참고 근거로 쓰이게 합니다.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5166360"/>
            <a:ext cx="11155680" cy="1097280"/>
          </a:xfrm>
          <a:prstGeom prst="roundRect">
            <a:avLst>
              <a:gd name="adj" fmla="val 5000"/>
            </a:avLst>
          </a:prstGeom>
          <a:solidFill>
            <a:srgbClr val="EFF5FC"/>
          </a:solidFill>
          <a:ln w="12700">
            <a:solidFill>
              <a:srgbClr val="1A6BC4"/>
            </a:solidFill>
            <a:prstDash val="solid"/>
          </a:ln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5285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4C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승소사례 7대 구조화 규격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77240" y="55778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적용 법조   ② 사건 분야(민사·행정 등)   ③ 쟁점 요약   ④ 심급·절차 단계   ⑤ 처분·판결 결과   ⑥ 승소 유도 핵심 요소   ⑦ 지역·정황 태그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ABEL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28700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"/>
          </a:xfrm>
          <a:prstGeom prst="rect">
            <a:avLst/>
          </a:prstGeom>
          <a:solidFill>
            <a:srgbClr val="1A6B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IMPLEMENTATION ROADMAP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로드맵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566160" cy="3977640"/>
          </a:xfrm>
          <a:prstGeom prst="roundRect">
            <a:avLst>
              <a:gd name="adj" fmla="val 1538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993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PHASE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" y="2240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기반 재구축 (1~2개월차)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587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 기지국 신설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58952" y="2926080"/>
            <a:ext cx="3054096" cy="0"/>
          </a:xfrm>
          <a:prstGeom prst="line">
            <a:avLst/>
          </a:prstGeom>
          <a:noFill/>
          <a:ln w="19050">
            <a:solidFill>
              <a:srgbClr val="1A6B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3072384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33272" y="3072384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HTTPS 전환 및 신규 사이트 아키텍처 설계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58952" y="376732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33272" y="376732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의미기반 URL·sitemap·canonical 체계 구축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8952" y="446227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33272" y="4462272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robots.txt AI 봇 접근 개방 세팅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58952" y="5157216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33272" y="5157216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 서치콘솔·AI 검색 모니터링 연결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1828800"/>
            <a:ext cx="3566160" cy="3977640"/>
          </a:xfrm>
          <a:prstGeom prst="roundRect">
            <a:avLst>
              <a:gd name="adj" fmla="val 1538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45152" y="1993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4C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PHASE 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45152" y="2240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자산 구조화 (2~3개월차)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45152" y="2587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승소사례 데이터화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45152" y="2926080"/>
            <a:ext cx="3054096" cy="0"/>
          </a:xfrm>
          <a:prstGeom prst="line">
            <a:avLst/>
          </a:prstGeom>
          <a:noFill/>
          <a:ln w="19050">
            <a:solidFill>
              <a:srgbClr val="0F4C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3072384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4C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9472" y="3072384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법인·변호사 JSON-LD 스키마 내장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45152" y="376732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4C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9472" y="376732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보유 승소사례 15건 7대 규격 등록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45152" y="446227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4C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9472" y="4462272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민사·행정 분야별 대표 페이지 구축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45152" y="5157216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4C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19472" y="5157216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게시판 콘텐츠 신규 구조 이관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75320" y="1828800"/>
            <a:ext cx="3566160" cy="3977640"/>
          </a:xfrm>
          <a:prstGeom prst="roundRect">
            <a:avLst>
              <a:gd name="adj" fmla="val 1538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531352" y="1993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478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PHASE 03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31352" y="2240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확장 (4~6개월차)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531352" y="2587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지역·AI 노출 고도화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531352" y="2926080"/>
            <a:ext cx="3054096" cy="0"/>
          </a:xfrm>
          <a:prstGeom prst="line">
            <a:avLst/>
          </a:prstGeom>
          <a:noFill/>
          <a:ln w="19050">
            <a:solidFill>
              <a:srgbClr val="0478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31352" y="3072384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805672" y="3072384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'남양주+분야' 지역 롱테일 칼럼 축적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531352" y="376732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805672" y="376732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쟁점 기반 심층 칼럼 정기 발행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531352" y="446227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805672" y="4462272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엔진별 현담 노출률 월간 모니터링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531352" y="5157216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805672" y="5157216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성과 검증 후 주력 분야 확장 설계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1개월차 상세 트래픽·유입 데이터를 검증해, 유의미한 유입이 확인되면 기존 주소를 보존·승계하는 방식으로 유연하게 전환합니다.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ABEL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28700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"/>
          </a:xfrm>
          <a:prstGeom prst="rect">
            <a:avLst/>
          </a:prstGeom>
          <a:solidFill>
            <a:srgbClr val="1A6BC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EXPECTED EFFECTS &amp; NEXT STEPS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기대 효과 및 협의 사항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486400" cy="1234440"/>
          </a:xfrm>
          <a:prstGeom prst="roundRect">
            <a:avLst>
              <a:gd name="adj" fmla="val 4444"/>
            </a:avLst>
          </a:prstGeom>
          <a:solidFill>
            <a:srgbClr val="F8F9FA"/>
          </a:solidFill>
          <a:ln/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74520"/>
            <a:ext cx="822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91640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검색·AI 노출 구조 확보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91640" y="2386584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기계 가독형 재구축으로, 방치돼 있던 승소 자산이 검색과 AI 답변에 처음으로 노출됩니다.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486400" cy="1234440"/>
          </a:xfrm>
          <a:prstGeom prst="roundRect">
            <a:avLst>
              <a:gd name="adj" fmla="val 4444"/>
            </a:avLst>
          </a:prstGeom>
          <a:solidFill>
            <a:srgbClr val="F8F9FA"/>
          </a:solidFill>
          <a:ln/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874520"/>
            <a:ext cx="822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60920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지역 AI 추천 선점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60920" y="2386584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'남양주·다산 변호사' AI 질의에서 경쟁이 비어 있는 추천 영역을 지역에서 먼저 확보합니다.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502920" y="3273552"/>
            <a:ext cx="5486400" cy="1234440"/>
          </a:xfrm>
          <a:prstGeom prst="roundRect">
            <a:avLst>
              <a:gd name="adj" fmla="val 4444"/>
            </a:avLst>
          </a:prstGeom>
          <a:solidFill>
            <a:srgbClr val="F8F9FA"/>
          </a:solidFill>
          <a:ln/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273552"/>
            <a:ext cx="822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691640" y="3456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광고 의존도 완화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91640" y="3785616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승소 데이터·칼럼 자산이 스스로 검색·AI 유입을 부르는 자생적 구조를 만듭니다.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6172200" y="3273552"/>
            <a:ext cx="5486400" cy="1234440"/>
          </a:xfrm>
          <a:prstGeom prst="roundRect">
            <a:avLst>
              <a:gd name="adj" fmla="val 4444"/>
            </a:avLst>
          </a:prstGeom>
          <a:solidFill>
            <a:srgbClr val="F8F9FA"/>
          </a:solidFill>
          <a:ln/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3273552"/>
            <a:ext cx="822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6BC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360920" y="3456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신뢰 검증 관문 강화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60920" y="3785616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소개로 들어온 의뢰인이 이름을 검색했을 때, 구조화된 승소 실적으로 신뢰를 얻습니다.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502920" y="4709160"/>
            <a:ext cx="11155680" cy="1417320"/>
          </a:xfrm>
          <a:prstGeom prst="roundRect">
            <a:avLst>
              <a:gd name="adj" fmla="val 3871"/>
            </a:avLst>
          </a:prstGeom>
          <a:solidFill>
            <a:srgbClr val="EFF5FC"/>
          </a:solidFill>
          <a:ln w="12700">
            <a:solidFill>
              <a:srgbClr val="1A6BC4"/>
            </a:solidFill>
            <a:prstDash val="solid"/>
          </a:ln>
          <a:effectLst>
            <a:outerShdw sx="100000" sy="100000" kx="0" ky="0" algn="bl" rotWithShape="0" blurRad="76200" dist="25400" dir="5400000">
              <a:srgbClr val="BFC5CC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C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협의 사항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5202936"/>
            <a:ext cx="109728" cy="109728"/>
          </a:xfrm>
          <a:prstGeom prst="rect">
            <a:avLst/>
          </a:prstGeom>
          <a:solidFill>
            <a:srgbClr val="1A6BC4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513892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의제 1. 홈페이지·도메인 관리 권한의 기술적 위임 범위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" y="5541264"/>
            <a:ext cx="109728" cy="109728"/>
          </a:xfrm>
          <a:prstGeom prst="rect">
            <a:avLst/>
          </a:prstGeom>
          <a:solidFill>
            <a:srgbClr val="1A6BC4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5477256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의제 2. 승소사례 공개 시 의뢰인 특정 방지·비식별 기준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" y="5879592"/>
            <a:ext cx="109728" cy="109728"/>
          </a:xfrm>
          <a:prstGeom prst="rect">
            <a:avLst/>
          </a:prstGeom>
          <a:solidFill>
            <a:srgbClr val="1A6BC4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581558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의제 3. 핵심 품질 지표(KPI) — 상담 문의 건수·AI 추천 노출률 정의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ABEL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28700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2026-09-03T06:51:23Z</dcterms:created>
  <dcterms:modified xsi:type="dcterms:W3CDTF">2026-09-03T06:51:23Z</dcterms:modified>
</cp:coreProperties>
</file>